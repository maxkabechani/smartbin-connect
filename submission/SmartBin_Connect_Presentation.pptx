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594360"/>
            <a:ext cx="1005840" cy="1005840"/>
          </a:xfrm>
          <a:prstGeom prst="round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" y="905256"/>
            <a:ext cx="448056" cy="438912"/>
          </a:xfrm>
          <a:prstGeom prst="rect">
            <a:avLst/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2104" y="832104"/>
            <a:ext cx="594360" cy="73152"/>
          </a:xfrm>
          <a:prstGeom prst="rect">
            <a:avLst/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47088" y="685800"/>
            <a:ext cx="4663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ptos Display"/>
              </a:rPr>
              <a:t>SMARTBIN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1042415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AFC0D0"/>
                </a:solidFill>
                <a:latin typeface="Aptos"/>
              </a:rPr>
              <a:t>CONNECTED WASTE OPERATIONS</a:t>
            </a:r>
          </a:p>
        </p:txBody>
      </p:sp>
      <p:sp>
        <p:nvSpPr>
          <p:cNvPr id="7" name="Oval 6"/>
          <p:cNvSpPr/>
          <p:nvPr/>
        </p:nvSpPr>
        <p:spPr>
          <a:xfrm>
            <a:off x="8869680" y="-731520"/>
            <a:ext cx="3749039" cy="3749039"/>
          </a:xfrm>
          <a:prstGeom prst="ellipse">
            <a:avLst/>
          </a:prstGeom>
          <a:solidFill>
            <a:srgbClr val="1B3048"/>
          </a:solidFill>
          <a:ln w="12700">
            <a:solidFill>
              <a:srgbClr val="1B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0" y="-137160"/>
            <a:ext cx="2560320" cy="2560320"/>
          </a:xfrm>
          <a:prstGeom prst="ellipse">
            <a:avLst/>
          </a:prstGeom>
          <a:solidFill>
            <a:srgbClr val="12243A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240280"/>
            <a:ext cx="9052560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A smarter way to</a:t>
            </a:r>
          </a:p>
          <a:p>
            <a:pPr algn="l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monitor and 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803904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C2D0DD"/>
                </a:solidFill>
                <a:latin typeface="Aptos"/>
              </a:rPr>
              <a:t>Ultrasonic fill sensing  •  ESP32 control  •  AI-assisted dispatch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4809744"/>
            <a:ext cx="713232" cy="54864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5102352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C2D0DD"/>
                </a:solidFill>
                <a:latin typeface="Aptos"/>
              </a:rPr>
              <a:t>Hardware Design and Implementation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C2D0DD"/>
                </a:solidFill>
                <a:latin typeface="Aptos"/>
              </a:rPr>
              <a:t>Max Kabechani  |  Prof. J. Phiri  |  15 October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9FB1C4"/>
                </a:solidFill>
                <a:latin typeface="Aptos"/>
              </a:rPr>
              <a:t>SMARTBIN CONNECT  •  HARDWARE DESIGN &amp;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9FB1C4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35B9AE"/>
                </a:solidFill>
                <a:latin typeface="Aptos"/>
              </a:rPr>
              <a:t>01  /  PROJECT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2243A"/>
                </a:solidFill>
                <a:latin typeface="Aptos Display"/>
              </a:rPr>
              <a:t>From fixed collection to fill-aware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97864"/>
            <a:ext cx="658368" cy="50292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66B5B"/>
                </a:solidFill>
                <a:latin typeface="Aptos"/>
              </a:rPr>
              <a:t>THE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01952"/>
            <a:ext cx="34747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01952"/>
            <a:ext cx="64008" cy="1225296"/>
          </a:xfrm>
          <a:prstGeom prst="rect">
            <a:avLst/>
          </a:prstGeom>
          <a:solidFill>
            <a:srgbClr val="E66B5B"/>
          </a:solidFill>
          <a:ln w="12700">
            <a:solidFill>
              <a:srgbClr val="E66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31546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Blind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1546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6697D"/>
                </a:solidFill>
                <a:latin typeface="Aptos"/>
              </a:rPr>
              <a:t>A schedule cannot tell whether a bin is nearly empty or overflowing.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337560"/>
            <a:ext cx="34747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3337560"/>
            <a:ext cx="64008" cy="1225296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93008"/>
            <a:ext cx="31546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Slow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04487"/>
            <a:ext cx="31546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6697D"/>
                </a:solidFill>
                <a:latin typeface="Aptos"/>
              </a:rPr>
              <a:t>Staff may only learn about a full bin after someone reports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880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700" b="1">
                <a:solidFill>
                  <a:srgbClr val="177F7A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5087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77F7A"/>
                </a:solidFill>
                <a:latin typeface="Aptos"/>
              </a:rPr>
              <a:t>THE SMARTBIN RESPONSE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901952"/>
            <a:ext cx="274320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901952"/>
            <a:ext cx="64008" cy="1225296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2057400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Sense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46888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6697D"/>
                </a:solidFill>
                <a:latin typeface="Aptos"/>
              </a:rPr>
              <a:t>Ultrasonic distance estimates available capacity.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901952"/>
            <a:ext cx="274320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1901952"/>
            <a:ext cx="64008" cy="1225296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59" y="2057400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246888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6697D"/>
                </a:solidFill>
                <a:latin typeface="Aptos"/>
              </a:rPr>
              <a:t>Wi-Fi sends readings to a role-based web portal.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3337560"/>
            <a:ext cx="274320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0" y="3337560"/>
            <a:ext cx="64008" cy="1225296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493008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Prioritize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904487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6697D"/>
                </a:solidFill>
                <a:latin typeface="Aptos"/>
              </a:rPr>
              <a:t>AI service estimates time to capacity and priority.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3337560"/>
            <a:ext cx="274320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0" y="3337560"/>
            <a:ext cx="64008" cy="1225296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59" y="3493008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Collect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59" y="3904487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6697D"/>
                </a:solidFill>
                <a:latin typeface="Aptos"/>
              </a:rPr>
              <a:t>Dispatch queue and routes turn alerts into work.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5074920"/>
            <a:ext cx="10561320" cy="658368"/>
          </a:xfrm>
          <a:prstGeom prst="roundRect">
            <a:avLst/>
          </a:prstGeom>
          <a:solidFill>
            <a:srgbClr val="E5F6F3"/>
          </a:solidFill>
          <a:ln w="12700">
            <a:solidFill>
              <a:srgbClr val="E5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239512"/>
            <a:ext cx="10149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77F7A"/>
                </a:solidFill>
                <a:latin typeface="Aptos"/>
              </a:rPr>
              <a:t>Design choice: one simple compartment, with smart sensing and collection coordination as the innovation.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8191A4"/>
                </a:solidFill>
                <a:latin typeface="Aptos"/>
              </a:rPr>
              <a:t>SMARTBIN CONNECT  •  HARDWARE DESIGN &amp; IMPLEMENTATION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8191A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35B9AE"/>
                </a:solidFill>
                <a:latin typeface="Aptos"/>
              </a:rPr>
              <a:t>02  /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2243A"/>
                </a:solidFill>
                <a:latin typeface="Aptos Display"/>
              </a:rPr>
              <a:t>One connected loop from bin to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97864"/>
            <a:ext cx="658368" cy="50292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8" y="5870448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6697D"/>
                </a:solidFill>
                <a:latin typeface="Aptos"/>
              </a:rPr>
              <a:t>The device calls the public HTTPS domain; the site forwards /api traffic to the private backend 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8191A4"/>
                </a:solidFill>
                <a:latin typeface="Aptos"/>
              </a:rPr>
              <a:t>SMARTBIN CONNECT  •  HARDWARE DESIGN &amp;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8191A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35B9AE"/>
                </a:solidFill>
                <a:latin typeface="Aptos"/>
              </a:rPr>
              <a:t>03  /  HARDWARE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2243A"/>
                </a:solidFill>
                <a:latin typeface="Aptos Display"/>
              </a:rPr>
              <a:t>Hardware: simple parts, clear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97864"/>
            <a:ext cx="658368" cy="50292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7498079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508760"/>
            <a:ext cx="34290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1508760"/>
            <a:ext cx="64008" cy="932688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59" y="1664207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ESP32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59" y="20756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6697D"/>
                </a:solidFill>
                <a:latin typeface="Aptos"/>
              </a:rPr>
              <a:t>Sensor read • Wi-Fi • LEDs • servo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651760"/>
            <a:ext cx="34290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2651760"/>
            <a:ext cx="64008" cy="932688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2807208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Ultrasonic sensor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32186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6697D"/>
                </a:solidFill>
                <a:latin typeface="Aptos"/>
              </a:rPr>
              <a:t>TRIG GPIO 5 • ECHO GPIO 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794760"/>
            <a:ext cx="34290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3794760"/>
            <a:ext cx="64008" cy="932688"/>
          </a:xfrm>
          <a:prstGeom prst="rect">
            <a:avLst/>
          </a:prstGeom>
          <a:solidFill>
            <a:srgbClr val="E66B5B"/>
          </a:solidFill>
          <a:ln w="12700">
            <a:solidFill>
              <a:srgbClr val="E66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950208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Indicators +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43616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6697D"/>
                </a:solidFill>
                <a:latin typeface="Aptos"/>
              </a:rPr>
              <a:t>LEDs 25/26/27 • button 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937760"/>
            <a:ext cx="34290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4937760"/>
            <a:ext cx="64008" cy="932688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5093208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Servo flap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55046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6697D"/>
                </a:solidFill>
                <a:latin typeface="Aptos"/>
              </a:rPr>
              <a:t>Signal GPIO 19 • separate 5 V supply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8978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E66B5B"/>
                </a:solidFill>
                <a:latin typeface="Aptos"/>
              </a:rPr>
              <a:t>Safety: divide a 5 V ECHO signal to 3.3 V; share ground with the separately powered servo.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8191A4"/>
                </a:solidFill>
                <a:latin typeface="Aptos"/>
              </a:rPr>
              <a:t>SMARTBIN CONNECT  •  HARDWARE DESIGN &amp; 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8191A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35B9AE"/>
                </a:solidFill>
                <a:latin typeface="Aptos"/>
              </a:rPr>
              <a:t>04  /  EMBEDDED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2243A"/>
                </a:solidFill>
                <a:latin typeface="Aptos Display"/>
              </a:rPr>
              <a:t>Firmware turns distance into a useful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97864"/>
            <a:ext cx="658368" cy="50292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rmwar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11018520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449824"/>
            <a:ext cx="32918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449824"/>
            <a:ext cx="64008" cy="841248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605272"/>
            <a:ext cx="2971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Reference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016752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6697D"/>
                </a:solidFill>
                <a:latin typeface="Aptos"/>
              </a:rPr>
              <a:t>35 cm empty • 5 cm full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5449824"/>
            <a:ext cx="32918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5449824"/>
            <a:ext cx="64008" cy="841248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5605272"/>
            <a:ext cx="2971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6016752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6697D"/>
                </a:solidFill>
                <a:latin typeface="Aptos"/>
              </a:rPr>
              <a:t>Every 30 s + on flap toggle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5449824"/>
            <a:ext cx="32918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5449824"/>
            <a:ext cx="64008" cy="841248"/>
          </a:xfrm>
          <a:prstGeom prst="rect">
            <a:avLst/>
          </a:prstGeom>
          <a:solidFill>
            <a:srgbClr val="E66B5B"/>
          </a:solidFill>
          <a:ln w="12700">
            <a:solidFill>
              <a:srgbClr val="E66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5605272"/>
            <a:ext cx="2971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Network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6016752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6697D"/>
                </a:solidFill>
                <a:latin typeface="Aptos"/>
              </a:rPr>
              <a:t>Wi-Fi retry about every 10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8191A4"/>
                </a:solidFill>
                <a:latin typeface="Aptos"/>
              </a:rPr>
              <a:t>SMARTBIN CONNECT  •  HARDWARE DESIGN &amp;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8191A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35B9AE"/>
                </a:solidFill>
                <a:latin typeface="Aptos"/>
              </a:rPr>
              <a:t>05  /  OPERATIONS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2243A"/>
                </a:solidFill>
                <a:latin typeface="Aptos Display"/>
              </a:rPr>
              <a:t>The portal gives each role the right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97864"/>
            <a:ext cx="658368" cy="50292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627632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27632"/>
            <a:ext cx="64008" cy="2148840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1546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ADMINISTRATOR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154679" cy="1472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6697D"/>
                </a:solidFill>
                <a:latin typeface="Aptos"/>
              </a:rPr>
              <a:t>Register bins, add addresses and coordinates, create collectors, and manage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27632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627632"/>
            <a:ext cx="64008" cy="21488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1546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94560"/>
            <a:ext cx="3154679" cy="1472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6697D"/>
                </a:solidFill>
                <a:latin typeface="Aptos"/>
              </a:rPr>
              <a:t>Claim a registered bin with its one-time code, view readings, and request collection.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27632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27632"/>
            <a:ext cx="64008" cy="2148840"/>
          </a:xfrm>
          <a:prstGeom prst="rect">
            <a:avLst/>
          </a:prstGeom>
          <a:solidFill>
            <a:srgbClr val="E66B5B"/>
          </a:solidFill>
          <a:ln w="12700">
            <a:solidFill>
              <a:srgbClr val="E66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83080"/>
            <a:ext cx="31546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COLLECTOR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3154679" cy="1472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6697D"/>
                </a:solidFill>
                <a:latin typeface="Aptos"/>
              </a:rPr>
              <a:t>Review prioritized open tasks, follow the route order, and close each task after pickup.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2519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77F7A"/>
                </a:solidFill>
                <a:latin typeface="Aptos"/>
              </a:rPr>
              <a:t>REGISTER → CLAIM → MONITOR → REQUEST / ALERT → ROUTE → COLLECT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828032"/>
            <a:ext cx="9966960" cy="841248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029200"/>
            <a:ext cx="9418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The API enforces permissions server-side; hiding a button is not the security boundary.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8191A4"/>
                </a:solidFill>
                <a:latin typeface="Aptos"/>
              </a:rPr>
              <a:t>SMARTBIN CONNECT  •  HARDWARE DESIGN &amp;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8191A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35B9AE"/>
                </a:solidFill>
                <a:latin typeface="Aptos"/>
              </a:rPr>
              <a:t>06  /  PREDICTION +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Aptos Display"/>
              </a:rPr>
              <a:t>AI turns readings into collection priorities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97864"/>
            <a:ext cx="658368" cy="50292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3337560" cy="2011680"/>
          </a:xfrm>
          <a:prstGeom prst="roundRect">
            <a:avLst/>
          </a:prstGeom>
          <a:solidFill>
            <a:srgbClr val="1B3048"/>
          </a:solidFill>
          <a:ln w="12700">
            <a:solidFill>
              <a:srgbClr val="1B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00200"/>
            <a:ext cx="64008" cy="2011680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FILL-TIME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67128"/>
            <a:ext cx="3017520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C6D2DE"/>
                </a:solidFill>
                <a:latin typeface="Aptos"/>
              </a:rPr>
              <a:t>Random Forest estimates hours to capacity from fill and time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600200"/>
            <a:ext cx="3337560" cy="2011680"/>
          </a:xfrm>
          <a:prstGeom prst="roundRect">
            <a:avLst/>
          </a:prstGeom>
          <a:solidFill>
            <a:srgbClr val="1B3048"/>
          </a:solidFill>
          <a:ln w="12700">
            <a:solidFill>
              <a:srgbClr val="1B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552" y="1600200"/>
            <a:ext cx="64008" cy="201168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755648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PRIORITY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67128"/>
            <a:ext cx="3017520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C6D2DE"/>
                </a:solidFill>
                <a:latin typeface="Aptos"/>
              </a:rPr>
              <a:t>Urgent ≥90% or ≤4 h • High ≥80% or ≤12 h • Medium ≥60%.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00200"/>
            <a:ext cx="3337560" cy="2011680"/>
          </a:xfrm>
          <a:prstGeom prst="roundRect">
            <a:avLst/>
          </a:prstGeom>
          <a:solidFill>
            <a:srgbClr val="1B3048"/>
          </a:solidFill>
          <a:ln w="12700">
            <a:solidFill>
              <a:srgbClr val="1B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600200"/>
            <a:ext cx="64008" cy="2011680"/>
          </a:xfrm>
          <a:prstGeom prst="rect">
            <a:avLst/>
          </a:prstGeom>
          <a:solidFill>
            <a:srgbClr val="E66B5B"/>
          </a:solidFill>
          <a:ln w="12700">
            <a:solidFill>
              <a:srgbClr val="E66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55648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ROUTE HEURISTIC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67128"/>
            <a:ext cx="3017520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C6D2DE"/>
                </a:solidFill>
                <a:latin typeface="Aptos"/>
              </a:rPr>
              <a:t>Priority-weighted nearest neighbour orders located stops using distance.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041648"/>
            <a:ext cx="10789920" cy="1078992"/>
          </a:xfrm>
          <a:prstGeom prst="roundRect">
            <a:avLst/>
          </a:prstGeom>
          <a:solidFill>
            <a:srgbClr val="1B3048"/>
          </a:solidFill>
          <a:ln w="12700">
            <a:solidFill>
              <a:srgbClr val="1B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61104"/>
            <a:ext cx="10378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E9D694"/>
                </a:solidFill>
                <a:latin typeface="Aptos"/>
              </a:rPr>
              <a:t>HONEST STATUS  •  Training data is synthetic (1,600 generated examples). Live prediction currently supplies fill level; fill rate and time since collection are defaulted. Accuracy is not yet measured.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CBD7E2"/>
                </a:solidFill>
                <a:latin typeface="Aptos"/>
              </a:rPr>
              <a:t>AI is the decision workflow: estimate → prioritize → suggest stops. Real collection history is the next step.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9FB1C4"/>
                </a:solidFill>
                <a:latin typeface="Aptos"/>
              </a:rPr>
              <a:t>SMARTBIN CONNECT  •  HARDWARE DESIGN &amp;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9FB1C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35B9AE"/>
                </a:solidFill>
                <a:latin typeface="Aptos"/>
              </a:rPr>
              <a:t>07  / 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2243A"/>
                </a:solidFill>
                <a:latin typeface="Aptos Display"/>
              </a:rPr>
              <a:t>Prototype evidence and live demo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97864"/>
            <a:ext cx="658368" cy="50292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536192"/>
            <a:ext cx="484632" cy="484632"/>
          </a:xfrm>
          <a:prstGeom prst="ellipse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27632"/>
            <a:ext cx="484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17904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Show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1568" y="1517904"/>
            <a:ext cx="754380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6697D"/>
                </a:solidFill>
                <a:latin typeface="Aptos"/>
              </a:rPr>
              <a:t>Sensor above waste, LED bands, button and open flap.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523744"/>
            <a:ext cx="484632" cy="484632"/>
          </a:xfrm>
          <a:prstGeom prst="ellipse">
            <a:avLst/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15184"/>
            <a:ext cx="484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505456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Show live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505456"/>
            <a:ext cx="754380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6697D"/>
                </a:solidFill>
                <a:latin typeface="Aptos"/>
              </a:rPr>
              <a:t>Move a target; verify fill update reaches the portal.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511296"/>
            <a:ext cx="484632" cy="484632"/>
          </a:xfrm>
          <a:prstGeom prst="ellipse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02736"/>
            <a:ext cx="484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493008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Show the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3493008"/>
            <a:ext cx="754380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6697D"/>
                </a:solidFill>
                <a:latin typeface="Aptos"/>
              </a:rPr>
              <a:t>Request collection, open dispatch, follow route, close task.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4498848"/>
            <a:ext cx="484632" cy="484632"/>
          </a:xfrm>
          <a:prstGeom prst="ellipse">
            <a:avLst/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590288"/>
            <a:ext cx="484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8056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2243A"/>
                </a:solidFill>
                <a:latin typeface="Aptos"/>
              </a:rPr>
              <a:t>Explain the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4480560"/>
            <a:ext cx="754380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6697D"/>
                </a:solidFill>
                <a:latin typeface="Aptos"/>
              </a:rPr>
              <a:t>Priority estimate plus route heuristic; explain synthetic-data limit.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23560"/>
            <a:ext cx="10652760" cy="502920"/>
          </a:xfrm>
          <a:prstGeom prst="roundRect">
            <a:avLst/>
          </a:prstGeom>
          <a:solidFill>
            <a:srgbClr val="FFF6DE"/>
          </a:solidFill>
          <a:ln w="12700">
            <a:solidFill>
              <a:srgbClr val="FFF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51576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927000"/>
                </a:solidFill>
                <a:latin typeface="Aptos"/>
              </a:rPr>
              <a:t>Verification: stub-based C++ syntax check passed; ESP32 compile and physical bench tests still need confirmation.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8191A4"/>
                </a:solidFill>
                <a:latin typeface="Aptos"/>
              </a:rPr>
              <a:t>SMARTBIN CONNECT  •  HARDWARE DESIGN &amp; 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8191A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09728" cy="5394960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2412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35B9AE"/>
                </a:solidFill>
                <a:latin typeface="Aptos"/>
              </a:rPr>
              <a:t>SMARTER COLLECTION STARTS WITH BETTER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875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ptos Display"/>
              </a:rPr>
              <a:t>Measure what is inside.</a:t>
            </a:r>
          </a:p>
          <a:p>
            <a:pPr algn="l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ptos Display"/>
              </a:rPr>
              <a:t>Move collection when it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337560"/>
            <a:ext cx="9326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C5D2DF"/>
                </a:solidFill>
                <a:latin typeface="Aptos"/>
              </a:rPr>
              <a:t>SmartBin Connect joins a real-world sensor, a simple actuator, and an operations portal.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4389120"/>
            <a:ext cx="2971800" cy="914400"/>
          </a:xfrm>
          <a:prstGeom prst="roundRect">
            <a:avLst/>
          </a:prstGeom>
          <a:solidFill>
            <a:srgbClr val="1B3048"/>
          </a:solidFill>
          <a:ln w="12700">
            <a:solidFill>
              <a:srgbClr val="1B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4389120"/>
            <a:ext cx="64008" cy="914400"/>
          </a:xfrm>
          <a:prstGeom prst="rect">
            <a:avLst/>
          </a:prstGeom>
          <a:solidFill>
            <a:srgbClr val="35B9AE"/>
          </a:solidFill>
          <a:ln w="12700">
            <a:solidFill>
              <a:srgbClr val="35B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4544568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NEXT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95604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C6D2DE"/>
                </a:solidFill>
                <a:latin typeface="Aptos"/>
              </a:rPr>
              <a:t>Bench-test the sensor and servo.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4389120"/>
            <a:ext cx="2971800" cy="914400"/>
          </a:xfrm>
          <a:prstGeom prst="roundRect">
            <a:avLst/>
          </a:prstGeom>
          <a:solidFill>
            <a:srgbClr val="1B3048"/>
          </a:solidFill>
          <a:ln w="12700">
            <a:solidFill>
              <a:srgbClr val="1B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4389120"/>
            <a:ext cx="64008" cy="91440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544568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NEXT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95604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C6D2DE"/>
                </a:solidFill>
                <a:latin typeface="Aptos"/>
              </a:rPr>
              <a:t>Validate a full telemetry cycle.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89120"/>
            <a:ext cx="2971800" cy="914400"/>
          </a:xfrm>
          <a:prstGeom prst="roundRect">
            <a:avLst/>
          </a:prstGeom>
          <a:solidFill>
            <a:srgbClr val="1B3048"/>
          </a:solidFill>
          <a:ln w="12700">
            <a:solidFill>
              <a:srgbClr val="1B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4389120"/>
            <a:ext cx="64008" cy="914400"/>
          </a:xfrm>
          <a:prstGeom prst="rect">
            <a:avLst/>
          </a:prstGeom>
          <a:solidFill>
            <a:srgbClr val="E66B5B"/>
          </a:solidFill>
          <a:ln w="12700">
            <a:solidFill>
              <a:srgbClr val="E66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4544568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NEXT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95604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C6D2DE"/>
                </a:solidFill>
                <a:latin typeface="Aptos"/>
              </a:rPr>
              <a:t>Train with real collection history.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9FB1C4"/>
                </a:solidFill>
                <a:latin typeface="Aptos"/>
              </a:rPr>
              <a:t>SMARTBIN CONNECT  •  HARDWARE DESIGN &amp;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9FB1C4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